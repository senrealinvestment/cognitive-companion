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1A22"/>
          </a:solidFill>
          <a:ln w="12700">
            <a:solidFill>
              <a:srgbClr val="071A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0B2834"/>
          </a:solidFill>
          <a:ln w="12700">
            <a:solidFill>
              <a:srgbClr val="0B283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43000"/>
            <a:ext cx="502920" cy="109728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1732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 COMPANION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Camera-free smart-glasses ambient AI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critical care simulation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protocol cues  ·  Human remains decision-maker  ·  Closed quality loop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12280" y="96012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12280" y="119786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lab pilot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12280" y="17830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LAW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12280" y="202082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wearable camera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12280" y="26060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12280" y="284378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VCU Anesthesiology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12280" y="342900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12280" y="366674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$12.5k preferred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4709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Formerly Crisis Mirror  ·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C"/>
          </a:solidFill>
          <a:ln w="12700">
            <a:solidFill>
              <a:srgbClr val="F8FB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Crisis collapses bandwidth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9776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417320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3441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Freeze &amp; fixation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178308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Learners stall or tunnel under load. Attendings carry the full cognitive stack.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43000"/>
            <a:ext cx="39776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92040" y="1417320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66360" y="13441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Delayed, uneven debrief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92040" y="178308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arrives after the moment. Protocol checks are hard to rehearse at tempo.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39776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3017520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29443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 video is a non-starter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338328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Face-worn cameras in any ICU are a PHI, consent, and culture problem.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2743200"/>
            <a:ext cx="39776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92040" y="3017520"/>
            <a:ext cx="128016" cy="128016"/>
          </a:xfrm>
          <a:prstGeom prst="roundRect">
            <a:avLst>
              <a:gd name="adj" fmla="val 28571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66360" y="29443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Rare high-stakes events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892040" y="338328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 ICU decompensations need reproducible teaching — starting with reperfusion instability.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11480" y="482803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Companion  ·  VCU Anesthesiology  ·  Sim-first  ·  Camera-free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32104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C"/>
          </a:solidFill>
          <a:ln w="12700">
            <a:solidFill>
              <a:srgbClr val="F8FB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pocket protocol whisper — not an AI intensivist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8229600" cy="1097280"/>
          </a:xfrm>
          <a:prstGeom prst="roundRect">
            <a:avLst>
              <a:gd name="adj" fmla="val 8333"/>
            </a:avLst>
          </a:prstGeom>
          <a:solidFill>
            <a:srgbClr val="0B2834"/>
          </a:solidFill>
          <a:ln w="12700">
            <a:solidFill>
              <a:srgbClr val="0B28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2344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audio from clinician glasses (or phone) feeds a local protocol brain on a nearby phone/iPad that delivers a discrete cue — short HUD text + tone. The clinician acts. We log whether the cue was helpful and accurate for offline training.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39776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5800" y="2514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71800"/>
            <a:ext cx="109728" cy="10972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8803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forcing for decompensations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319272"/>
            <a:ext cx="109728" cy="10972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22783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+ learners first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3666744"/>
            <a:ext cx="109728" cy="10972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35753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Camera-free wearable path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014216"/>
            <a:ext cx="109728" cy="10972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2277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cue-quality loop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09160" y="2331720"/>
            <a:ext cx="39776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37760" y="2514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NOT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83480" y="2971800"/>
            <a:ext cx="109728" cy="10972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57800" y="28803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Body-worn video surveillance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983480" y="3319272"/>
            <a:ext cx="109728" cy="10972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57800" y="322783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Autodiagnosis or auto orders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983480" y="3666744"/>
            <a:ext cx="109728" cy="10972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57800" y="35753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cloud wiretap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983480" y="4014216"/>
            <a:ext cx="109728" cy="10972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57800" y="392277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replacement for judgment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11480" y="482803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Companion  ·  VCU Anesthesiology  ·  Sim-first  ·  Camera-free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2104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C"/>
          </a:solidFill>
          <a:ln w="12700">
            <a:solidFill>
              <a:srgbClr val="F8FB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PHYSICS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 → Reason → Cue → Act → Label → Train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26974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261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5361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listening via glasses mics and/or phone. Gated when possible.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91840" y="1097280"/>
            <a:ext cx="26974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74720" y="1261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74720" y="15361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74720" y="19202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Cognitive-forcing suggestion. Local protocol pack first; evidence API second.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097280"/>
            <a:ext cx="26974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09360" y="1261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15361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309360" y="19202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+ ≤8-word HUD text. Discrete in ICU. No free-form speech during crisis.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974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080" y="2953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32278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" y="3611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verbal response or clinical action. Human remains decision-maker.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91840" y="2788920"/>
            <a:ext cx="26974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474720" y="2953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74720" y="32278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474720" y="3611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Helpful? Accurate? Cost / latency? Required for every fired cue eventually.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26480" y="2788920"/>
            <a:ext cx="26974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09360" y="29535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09360" y="322783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309360" y="3611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policy / model update. Never silent online self-mod at bedside.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11480" y="482803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Companion  ·  VCU Anesthesiology  ·  Sim-first  ·  Camera-free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32104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C"/>
          </a:solidFill>
          <a:ln w="12700">
            <a:solidFill>
              <a:srgbClr val="F8FB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brain lives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2801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3533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Glasses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85800" y="2286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wearable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7432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the room + show/play short cue. Tiny computer. No camera.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38404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+ mics (+ bone conduction)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05156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20440" y="12801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0B2834"/>
          </a:solidFill>
          <a:ln w="12700">
            <a:solidFill>
              <a:srgbClr val="0B28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13533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20440" y="1965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brain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520440" y="2286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/ iPad nearby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27432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gate → local protocols → safety → send cue. Label taps after.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520440" y="38404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or iPad in pocket / belt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26480" y="105156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355080" y="12801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55080" y="13533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355080" y="1965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consult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355080" y="2286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cloud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55080" y="27432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Broader evidence on demand — stripped questions, not room audio dumps.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55080" y="38404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7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OpenEvidence / UpToDate-class APIs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11480" y="482803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Companion  ·  VCU Anesthesiology  ·  Sim-first  ·  Camera-free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2104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C"/>
          </a:solidFill>
          <a:ln w="12700">
            <a:solidFill>
              <a:srgbClr val="F8FB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LAW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wearable camera in v1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2344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71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face-worn camera in any ICU is a PHI + consent + culture problem — not just a tech feature. v1 senses with sound only.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26974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5800" y="2423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 optics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" y="32461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Patients, families, and staff enter frame without clean consent paths.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91840" y="2194560"/>
            <a:ext cx="26974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520440" y="2423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20440" y="27889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IRB / compliance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520440" y="32461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 approvals and unit questions: “what is that recording?”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26480" y="2194560"/>
            <a:ext cx="26974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55080" y="2423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55080" y="27889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 value path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355080" y="32461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+ protocol context carry the trigger. Vision can wait for a separate program.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1480" y="482803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Companion  ·  VCU Anesthesiology  ·  Sim-first  ·  Camera-free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2104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C"/>
          </a:solidFill>
          <a:ln w="12700">
            <a:solidFill>
              <a:srgbClr val="F8FB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paths — start before glasses arrive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51560"/>
            <a:ext cx="2697480" cy="822960"/>
          </a:xfrm>
          <a:prstGeom prst="roundRect">
            <a:avLst>
              <a:gd name="adj" fmla="val 13333"/>
            </a:avLst>
          </a:prstGeom>
          <a:solidFill>
            <a:srgbClr val="0B2834"/>
          </a:solidFill>
          <a:ln w="12700">
            <a:solidFill>
              <a:srgbClr val="0B283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00200"/>
            <a:ext cx="2697480" cy="274320"/>
          </a:xfrm>
          <a:prstGeom prst="rect">
            <a:avLst/>
          </a:prstGeom>
          <a:solidFill>
            <a:srgbClr val="0B2834"/>
          </a:solidFill>
          <a:ln w="12700">
            <a:solidFill>
              <a:srgbClr val="0B283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17043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LEAN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14173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Brilliant Labs Halo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hard-off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2560320"/>
            <a:ext cx="91440" cy="91440"/>
          </a:xfrm>
          <a:prstGeom prst="ellipse">
            <a:avLst/>
          </a:prstGeom>
          <a:solidFill>
            <a:srgbClr val="0B2834"/>
          </a:solidFill>
          <a:ln w="12700">
            <a:solidFill>
              <a:srgbClr val="0B28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468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stack + SDKs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2944368"/>
            <a:ext cx="91440" cy="91440"/>
          </a:xfrm>
          <a:prstGeom prst="ellipse">
            <a:avLst/>
          </a:prstGeom>
          <a:solidFill>
            <a:srgbClr val="0B2834"/>
          </a:solidFill>
          <a:ln w="12700">
            <a:solidFill>
              <a:srgbClr val="0B28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8529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bone conduction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5800" y="3328416"/>
            <a:ext cx="91440" cy="91440"/>
          </a:xfrm>
          <a:prstGeom prst="ellipse">
            <a:avLst/>
          </a:prstGeom>
          <a:solidFill>
            <a:srgbClr val="0B2834"/>
          </a:solidFill>
          <a:ln w="12700">
            <a:solidFill>
              <a:srgbClr val="0B283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23697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 + mics included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3712464"/>
            <a:ext cx="91440" cy="91440"/>
          </a:xfrm>
          <a:prstGeom prst="ellipse">
            <a:avLst/>
          </a:prstGeom>
          <a:solidFill>
            <a:srgbClr val="0B2834"/>
          </a:solidFill>
          <a:ln w="12700">
            <a:solidFill>
              <a:srgbClr val="0B283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62102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powered off in clinical/sim profile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91840" y="105156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91840" y="1051560"/>
            <a:ext cx="2697480" cy="822960"/>
          </a:xfrm>
          <a:prstGeom prst="roundRect">
            <a:avLst>
              <a:gd name="adj" fmla="val 13333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91840" y="1600200"/>
            <a:ext cx="2697480" cy="27432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117043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PRIVACY-NATIVE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474720" y="14173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Realities G2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74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camera by design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520440" y="2560320"/>
            <a:ext cx="91440" cy="9144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49040" y="2468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discrete text HUD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520440" y="2944368"/>
            <a:ext cx="91440" cy="9144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49040" y="28529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mics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520440" y="3328416"/>
            <a:ext cx="91440" cy="9144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49040" y="323697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onboard speakers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520440" y="3712464"/>
            <a:ext cx="91440" cy="91440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49040" y="362102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via phone / BC earbuds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126480" y="105156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26480" y="1051560"/>
            <a:ext cx="2697480" cy="822960"/>
          </a:xfrm>
          <a:prstGeom prst="roundRect">
            <a:avLst>
              <a:gd name="adj" fmla="val 13333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0" y="1600200"/>
            <a:ext cx="269748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09360" y="117043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ONE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309360" y="14173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only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30936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sim path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355080" y="2560320"/>
            <a:ext cx="91440" cy="9144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0" y="2468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 + headphones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355080" y="2944368"/>
            <a:ext cx="91440" cy="9144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0" y="28529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On-screen mock HUD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355080" y="3328416"/>
            <a:ext cx="91440" cy="9144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0" y="323697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label metrics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355080" y="3712464"/>
            <a:ext cx="91440" cy="9144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83680" y="362102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hardware delay risk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11480" y="482803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Companion  ·  VCU Anesthesiology  ·  Sim-first  ·  Camera-free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2104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C"/>
          </a:solidFill>
          <a:ln w="12700">
            <a:solidFill>
              <a:srgbClr val="F8FB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PILOT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build in the sim lab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26974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" y="12527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Sim-only platform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1965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audio → phone edge brain → HUD + tone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91840" y="1051560"/>
            <a:ext cx="26974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93008" y="12527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93008" y="1554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protocol pack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93008" y="1965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VCU / Tx ICU cards — not cloud-only “AI doctor”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26480" y="1051560"/>
            <a:ext cx="26974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27648" y="12527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27648" y="1554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rules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27648" y="1965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language · no orders · camera hard-off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43200"/>
            <a:ext cx="26974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8368" y="294436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" y="3246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 loop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8368" y="3657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scenario: Helpful? Accurate? + short note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91840" y="2743200"/>
            <a:ext cx="26974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493008" y="294436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93008" y="3246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493008" y="3657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· %helpful · %accurate · on vs off preference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126480" y="2743200"/>
            <a:ext cx="269748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27648" y="294436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27648" y="3246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Year-1 exit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327648" y="3657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ON on ≥1 scenario class · no harmful action increase · abstract draft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11480" y="482803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Companion  ·  VCU Anesthesiology  ·  Sim-first  ·  Camera-free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32104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C"/>
          </a:solidFill>
          <a:ln w="12700">
            <a:solidFill>
              <a:srgbClr val="F8FB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ASK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VCU Anesthesiology simulation pilot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430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/ CLINICAL LEAD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1417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Sergio Navarrete, MD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1874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 ICU design · protocols · scholarly output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91840" y="1005840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74720" y="11430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LAB / EDUCATION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474720" y="1417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Mike Kazior, MD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74720" y="1874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 fit · learner access · equipment home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005840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1E7E7"/>
            </a:solidFill>
            <a:prstDash val="solid"/>
          </a:ln>
          <a:effectLst>
            <a:outerShdw sx="100000" sy="100000" kx="0" ky="0" algn="bl" rotWithShape="0" blurRad="127000" dist="38100" dir="16200000">
              <a:srgbClr val="071A22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09360" y="11430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COLLABORATOR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09360" y="1417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Marjo Beltoja, MD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874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ops · learner liaison · labeling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651760"/>
            <a:ext cx="8229600" cy="1828800"/>
          </a:xfrm>
          <a:prstGeom prst="roundRect">
            <a:avLst>
              <a:gd name="adj" fmla="val 6000"/>
            </a:avLst>
          </a:prstGeom>
          <a:solidFill>
            <a:srgbClr val="0B2834"/>
          </a:solidFill>
          <a:ln w="12700">
            <a:solidFill>
              <a:srgbClr val="0B283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2834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DEPARTMENTAL ASK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1546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$12,500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3152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Halo ×1–2 + app + scenarios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74720" y="31546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viable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7472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$7,500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347472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Halo ×1 + narrower software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31546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Phone-only start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1792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$4–5k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6217920" y="3886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hardware must wait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11480" y="4828032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Companion  ·  VCU Anesthesiology  ·  Sim-first  ·  Camera-free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21040" y="48280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71A22"/>
          </a:solidFill>
          <a:ln w="12700">
            <a:solidFill>
              <a:srgbClr val="071A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0B2834"/>
          </a:solidFill>
          <a:ln w="12700">
            <a:solidFill>
              <a:srgbClr val="0B28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114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12 MONTHS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7315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concept to abstract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F3442"/>
          </a:solidFill>
          <a:ln w="12700">
            <a:solidFill>
              <a:srgbClr val="0F34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8132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1463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Halo + cam-off profile · phone app v0 · 2 scenarios · IRB/education path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F3442"/>
          </a:solidFill>
          <a:ln w="12700">
            <a:solidFill>
              <a:srgbClr val="0F34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16712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8016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learner sessions · label data · cue quality iteration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F3442"/>
          </a:solidFill>
          <a:ln w="12700">
            <a:solidFill>
              <a:srgbClr val="0F34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85292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2834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scenarios · on vs off comparison in sim lab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640080" cy="502920"/>
          </a:xfrm>
          <a:prstGeom prst="roundRect">
            <a:avLst>
              <a:gd name="adj" fmla="val 14545"/>
            </a:avLst>
          </a:prstGeom>
          <a:solidFill>
            <a:srgbClr val="0F3442"/>
          </a:solidFill>
          <a:ln w="12700">
            <a:solidFill>
              <a:srgbClr val="0F34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53872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80160" y="3520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report · abstract · society grants · equipment with Kazior lab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66560" y="960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GETS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66560" y="1371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sim prototype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66560" y="18105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 scenario cards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766560" y="224942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report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766560" y="26883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draft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31272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for grants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76656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 stays in sim program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· camera-free · education first  ·  github.com/senrealinvestment/crisis-mirror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Cognitive Companion</dc:title>
  <dc:subject>Camera-free smart-glasses cognitive companion for critical care simulation</dc:subject>
  <dc:creator>Sergio Navarrete, MD · VCU Anesthesiology</dc:creator>
  <cp:lastModifiedBy>Sergio Navarrete, MD · VCU Anesthesiology</cp:lastModifiedBy>
  <cp:revision>1</cp:revision>
  <dcterms:created xsi:type="dcterms:W3CDTF">2026-09-24T14:42:39Z</dcterms:created>
  <dcterms:modified xsi:type="dcterms:W3CDTF">2026-09-24T14:42:39Z</dcterms:modified>
</cp:coreProperties>
</file>