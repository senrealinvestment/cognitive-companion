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A22"/>
          </a:solidFill>
          <a:ln w="12700">
            <a:solidFill>
              <a:srgbClr val="071A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0B2834"/>
          </a:solidFill>
          <a:ln w="12700">
            <a:solidFill>
              <a:srgbClr val="0B283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43000"/>
            <a:ext cx="502920" cy="109728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1732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COGNITIVE COMPANION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Camera-free smart-glasses ambient AI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critical care simulation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297180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protocol cues  ·  Human remains decision-maker  ·  Closed quality loop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12280" y="9601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12280" y="119786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lab pilot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12280" y="17830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LAW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12280" y="202082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wearable camera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12280" y="26060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12280" y="284378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VCU Anesthesiology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12280" y="34290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12280" y="366674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$12.5k preferred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4709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Companion  ·  July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BFC"/>
          </a:solidFill>
          <a:ln w="12700">
            <a:solidFill>
              <a:srgbClr val="F8FB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7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Crisis collapses bandwidth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39776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1E7E7"/>
            </a:solidFill>
            <a:prstDash val="solid"/>
          </a:ln>
          <a:effectLst>
            <a:outerShdw sx="100000" sy="100000" kx="0" ky="0" algn="bl" rotWithShape="0" blurRad="127000" dist="38100" dir="16200000">
              <a:srgbClr val="071A22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417320"/>
            <a:ext cx="128016" cy="128016"/>
          </a:xfrm>
          <a:prstGeom prst="roundRect">
            <a:avLst>
              <a:gd name="adj" fmla="val 28571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3441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Freeze &amp; fixation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178308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Learners stall or tunnel under load. Attendings carry the full cognitive stack.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143000"/>
            <a:ext cx="39776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1E7E7"/>
            </a:solidFill>
            <a:prstDash val="solid"/>
          </a:ln>
          <a:effectLst>
            <a:outerShdw sx="100000" sy="100000" kx="0" ky="0" algn="bl" rotWithShape="0" blurRad="127000" dist="38100" dir="16200000">
              <a:srgbClr val="071A22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92040" y="1417320"/>
            <a:ext cx="128016" cy="128016"/>
          </a:xfrm>
          <a:prstGeom prst="roundRect">
            <a:avLst>
              <a:gd name="adj" fmla="val 28571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66360" y="13441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Delayed, uneven debrief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92040" y="178308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arrives after the moment. Protocol checks are hard to rehearse at tempo.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743200"/>
            <a:ext cx="39776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1E7E7"/>
            </a:solidFill>
            <a:prstDash val="solid"/>
          </a:ln>
          <a:effectLst>
            <a:outerShdw sx="100000" sy="100000" kx="0" ky="0" algn="bl" rotWithShape="0" blurRad="127000" dist="38100" dir="16200000">
              <a:srgbClr val="071A22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" y="3017520"/>
            <a:ext cx="128016" cy="128016"/>
          </a:xfrm>
          <a:prstGeom prst="roundRect">
            <a:avLst>
              <a:gd name="adj" fmla="val 28571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29443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Wearable video is a non-starter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5800" y="338328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Face-worn cameras in any ICU are a PHI, consent, and culture problem.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63440" y="2743200"/>
            <a:ext cx="39776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1E7E7"/>
            </a:solidFill>
            <a:prstDash val="solid"/>
          </a:ln>
          <a:effectLst>
            <a:outerShdw sx="100000" sy="100000" kx="0" ky="0" algn="bl" rotWithShape="0" blurRad="127000" dist="38100" dir="16200000">
              <a:srgbClr val="071A22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92040" y="3017520"/>
            <a:ext cx="128016" cy="128016"/>
          </a:xfrm>
          <a:prstGeom prst="roundRect">
            <a:avLst>
              <a:gd name="adj" fmla="val 28571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66360" y="29443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Rare high-stakes events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892040" y="338328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 ICU decompensations need reproducible teaching — starting with reperfusion instability.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11480" y="482803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Companion  ·  VCU Anesthesiology  ·  Sim-first  ·  Camera-free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321040" y="4828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BFC"/>
          </a:solidFill>
          <a:ln w="12700">
            <a:solidFill>
              <a:srgbClr val="F8FB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7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pocket protocol whisper — not an AI intensivist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0B2834"/>
          </a:solidFill>
          <a:ln w="12700">
            <a:solidFill>
              <a:srgbClr val="0B283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23444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 audio from clinician glasses (or phone) feeds a local protocol brain on a nearby phone/iPad that delivers a discrete cue — short HUD text + tone. The clinician acts. We log whether the cue was helpful and accurate for offline training.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397764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1E7E7"/>
            </a:solidFill>
            <a:prstDash val="solid"/>
          </a:ln>
          <a:effectLst>
            <a:outerShdw sx="100000" sy="100000" kx="0" ky="0" algn="bl" rotWithShape="0" blurRad="127000" dist="38100" dir="16200000">
              <a:srgbClr val="071A22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2514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2971800"/>
            <a:ext cx="109728" cy="1097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8803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forcing for decompensations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319272"/>
            <a:ext cx="109728" cy="1097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22783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+ learners first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3666744"/>
            <a:ext cx="109728" cy="1097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57530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Camera-free wearable path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4014216"/>
            <a:ext cx="109728" cy="1097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392277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cue-quality loop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09160" y="2331720"/>
            <a:ext cx="397764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1E7E7"/>
            </a:solidFill>
            <a:prstDash val="solid"/>
          </a:ln>
          <a:effectLst>
            <a:outerShdw sx="100000" sy="100000" kx="0" ky="0" algn="bl" rotWithShape="0" blurRad="127000" dist="38100" dir="16200000">
              <a:srgbClr val="071A22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37760" y="2514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NOT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983480" y="2971800"/>
            <a:ext cx="109728" cy="109728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57800" y="28803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Body-worn video surveillance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983480" y="3319272"/>
            <a:ext cx="109728" cy="109728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57800" y="322783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Autodiagnosis or auto orders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983480" y="3666744"/>
            <a:ext cx="109728" cy="109728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57800" y="357530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 cloud wiretap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983480" y="4014216"/>
            <a:ext cx="109728" cy="109728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57800" y="392277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replacement for judgment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11480" y="482803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Companion  ·  VCU Anesthesiology  ·  Sim-first  ·  Camera-free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321040" y="4828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BFC"/>
          </a:solidFill>
          <a:ln w="12700">
            <a:solidFill>
              <a:srgbClr val="F8FB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PHYSICS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7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Sense → Reason → Cue → Act → Label → Train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26974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1E7E7"/>
            </a:solidFill>
            <a:prstDash val="solid"/>
          </a:ln>
          <a:effectLst>
            <a:outerShdw sx="100000" sy="100000" kx="0" ky="0" algn="bl" rotWithShape="0" blurRad="127000" dist="38100" dir="16200000">
              <a:srgbClr val="071A22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2618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5361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7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19202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 listening via glasses mics and/or phone. Gated when possible.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1097280"/>
            <a:ext cx="26974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1E7E7"/>
            </a:solidFill>
            <a:prstDash val="solid"/>
          </a:ln>
          <a:effectLst>
            <a:outerShdw sx="100000" sy="100000" kx="0" ky="0" algn="bl" rotWithShape="0" blurRad="127000" dist="38100" dir="16200000">
              <a:srgbClr val="071A22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74720" y="12618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4720" y="15361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7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74720" y="19202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Cognitive-forcing suggestion. Local protocol pack first; evidence API second.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097280"/>
            <a:ext cx="26974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1E7E7"/>
            </a:solidFill>
            <a:prstDash val="solid"/>
          </a:ln>
          <a:effectLst>
            <a:outerShdw sx="100000" sy="100000" kx="0" ky="0" algn="bl" rotWithShape="0" blurRad="127000" dist="38100" dir="16200000">
              <a:srgbClr val="071A22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09360" y="12618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09360" y="15361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7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09360" y="19202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 + ≤8-word HUD text. Discrete in ICU. No free-form speech during crisis.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788920"/>
            <a:ext cx="26974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1E7E7"/>
            </a:solidFill>
            <a:prstDash val="solid"/>
          </a:ln>
          <a:effectLst>
            <a:outerShdw sx="100000" sy="100000" kx="0" ky="0" algn="bl" rotWithShape="0" blurRad="127000" dist="38100" dir="16200000">
              <a:srgbClr val="071A22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" y="29535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32278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7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0080" y="36118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verbal response or clinical action. Human remains decision-maker.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91840" y="2788920"/>
            <a:ext cx="26974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1E7E7"/>
            </a:solidFill>
            <a:prstDash val="solid"/>
          </a:ln>
          <a:effectLst>
            <a:outerShdw sx="100000" sy="100000" kx="0" ky="0" algn="bl" rotWithShape="0" blurRad="127000" dist="38100" dir="16200000">
              <a:srgbClr val="071A22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474720" y="29535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74720" y="32278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7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474720" y="36118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Helpful? Accurate? Cost / latency? Required for every fired cue eventually.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26480" y="2788920"/>
            <a:ext cx="26974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1E7E7"/>
            </a:solidFill>
            <a:prstDash val="solid"/>
          </a:ln>
          <a:effectLst>
            <a:outerShdw sx="100000" sy="100000" kx="0" ky="0" algn="bl" rotWithShape="0" blurRad="127000" dist="38100" dir="16200000">
              <a:srgbClr val="071A22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309360" y="29535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09360" y="32278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7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309360" y="36118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policy / model update. Never silent online self-mod at bedside.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11480" y="482803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Companion  ·  VCU Anesthesiology  ·  Sim-first  ·  Camera-free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321040" y="4828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BFC"/>
          </a:solidFill>
          <a:ln w="12700">
            <a:solidFill>
              <a:srgbClr val="F8FB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7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brain lives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2697480" cy="33832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1E7E7"/>
            </a:solidFill>
            <a:prstDash val="solid"/>
          </a:ln>
          <a:effectLst>
            <a:outerShdw sx="100000" sy="100000" kx="0" ky="0" algn="bl" rotWithShape="0" blurRad="127000" dist="38100" dir="16200000">
              <a:srgbClr val="071A22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2801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35331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19659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7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Glasses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85800" y="22860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wearable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27432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 the room + show/play short cue. Tiny computer. No camera.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38404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+ mics (+ bone conduction)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051560"/>
            <a:ext cx="2697480" cy="33832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1E7E7"/>
            </a:solidFill>
            <a:prstDash val="solid"/>
          </a:ln>
          <a:effectLst>
            <a:outerShdw sx="100000" sy="100000" kx="0" ky="0" algn="bl" rotWithShape="0" blurRad="127000" dist="38100" dir="16200000">
              <a:srgbClr val="071A22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520440" y="12801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B2834"/>
          </a:solidFill>
          <a:ln w="12700">
            <a:solidFill>
              <a:srgbClr val="0B283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0440" y="135331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520440" y="19659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7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brain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520440" y="22860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/ iPad nearby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520440" y="27432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gate → local protocols → safety → send cue. Label taps after.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520440" y="38404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iPhone or iPad in pocket / belt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26480" y="1051560"/>
            <a:ext cx="2697480" cy="33832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1E7E7"/>
            </a:solidFill>
            <a:prstDash val="solid"/>
          </a:ln>
          <a:effectLst>
            <a:outerShdw sx="100000" sy="100000" kx="0" ky="0" algn="bl" rotWithShape="0" blurRad="127000" dist="38100" dir="16200000">
              <a:srgbClr val="071A22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55080" y="12801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135331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355080" y="19659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7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consult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355080" y="22860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cloud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55080" y="27432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Broader evidence on demand — stripped questions, not room audio dumps.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55080" y="38404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OpenEvidence / UpToDate-class APIs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11480" y="482803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Companion  ·  VCU Anesthesiology  ·  Sim-first  ·  Camera-free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321040" y="4828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BFC"/>
          </a:solidFill>
          <a:ln w="12700">
            <a:solidFill>
              <a:srgbClr val="F8FB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LAW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7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wearable camera in v1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2344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7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face-worn camera in any ICU is a PHI + consent + culture problem — not just a tech feature. v1 senses with sound only.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26974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1E7E7"/>
            </a:solidFill>
            <a:prstDash val="solid"/>
          </a:ln>
          <a:effectLst>
            <a:outerShdw sx="100000" sy="100000" kx="0" ky="0" algn="bl" rotWithShape="0" blurRad="127000" dist="38100" dir="16200000">
              <a:srgbClr val="071A22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2423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7889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Consent optics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32461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Patients, families, and staff enter frame without clean consent paths.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91840" y="2194560"/>
            <a:ext cx="26974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1E7E7"/>
            </a:solidFill>
            <a:prstDash val="solid"/>
          </a:ln>
          <a:effectLst>
            <a:outerShdw sx="100000" sy="100000" kx="0" ky="0" algn="bl" rotWithShape="0" blurRad="127000" dist="38100" dir="16200000">
              <a:srgbClr val="071A22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520440" y="2423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20440" y="27889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IRB / compliance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20440" y="32461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Harder approvals and unit questions: “what is that recording?”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26480" y="2194560"/>
            <a:ext cx="26974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1E7E7"/>
            </a:solidFill>
            <a:prstDash val="solid"/>
          </a:ln>
          <a:effectLst>
            <a:outerShdw sx="100000" sy="100000" kx="0" ky="0" algn="bl" rotWithShape="0" blurRad="127000" dist="38100" dir="16200000">
              <a:srgbClr val="071A22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55080" y="2423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55080" y="27889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 value path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55080" y="32461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+ protocol context carry the trigger. Vision can wait for a separate program.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11480" y="482803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Companion  ·  VCU Anesthesiology  ·  Sim-first  ·  Camera-free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321040" y="4828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BFC"/>
          </a:solidFill>
          <a:ln w="12700">
            <a:solidFill>
              <a:srgbClr val="F8FB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7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paths — start before glasses arrive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2697480" cy="33832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1E7E7"/>
            </a:solidFill>
            <a:prstDash val="solid"/>
          </a:ln>
          <a:effectLst>
            <a:outerShdw sx="100000" sy="100000" kx="0" ky="0" algn="bl" rotWithShape="0" blurRad="127000" dist="38100" dir="16200000">
              <a:srgbClr val="071A22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51560"/>
            <a:ext cx="2697480" cy="822960"/>
          </a:xfrm>
          <a:prstGeom prst="roundRect">
            <a:avLst>
              <a:gd name="adj" fmla="val 13333"/>
            </a:avLst>
          </a:prstGeom>
          <a:solidFill>
            <a:srgbClr val="0B2834"/>
          </a:solidFill>
          <a:ln w="12700">
            <a:solidFill>
              <a:srgbClr val="0B283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00200"/>
            <a:ext cx="2697480" cy="274320"/>
          </a:xfrm>
          <a:prstGeom prst="rect">
            <a:avLst/>
          </a:prstGeom>
          <a:solidFill>
            <a:srgbClr val="0B2834"/>
          </a:solidFill>
          <a:ln w="12700">
            <a:solidFill>
              <a:srgbClr val="0B28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17043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LEAN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14173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Brilliant Labs Halo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20574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hard-off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2560320"/>
            <a:ext cx="91440" cy="91440"/>
          </a:xfrm>
          <a:prstGeom prst="ellipse">
            <a:avLst/>
          </a:prstGeom>
          <a:solidFill>
            <a:srgbClr val="0B2834"/>
          </a:solidFill>
          <a:ln w="12700">
            <a:solidFill>
              <a:srgbClr val="0B28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468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stack + SDKs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2944368"/>
            <a:ext cx="91440" cy="91440"/>
          </a:xfrm>
          <a:prstGeom prst="ellipse">
            <a:avLst/>
          </a:prstGeom>
          <a:solidFill>
            <a:srgbClr val="0B2834"/>
          </a:solidFill>
          <a:ln w="12700">
            <a:solidFill>
              <a:srgbClr val="0B283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8529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bone conduction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3328416"/>
            <a:ext cx="91440" cy="91440"/>
          </a:xfrm>
          <a:prstGeom prst="ellipse">
            <a:avLst/>
          </a:prstGeom>
          <a:solidFill>
            <a:srgbClr val="0B2834"/>
          </a:solidFill>
          <a:ln w="12700">
            <a:solidFill>
              <a:srgbClr val="0B283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23697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HUD + mics included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5800" y="3712464"/>
            <a:ext cx="91440" cy="91440"/>
          </a:xfrm>
          <a:prstGeom prst="ellipse">
            <a:avLst/>
          </a:prstGeom>
          <a:solidFill>
            <a:srgbClr val="0B2834"/>
          </a:solidFill>
          <a:ln w="12700">
            <a:solidFill>
              <a:srgbClr val="0B283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62102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powered off in clinical/sim profile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91840" y="1051560"/>
            <a:ext cx="2697480" cy="33832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1E7E7"/>
            </a:solidFill>
            <a:prstDash val="solid"/>
          </a:ln>
          <a:effectLst>
            <a:outerShdw sx="100000" sy="100000" kx="0" ky="0" algn="bl" rotWithShape="0" blurRad="127000" dist="38100" dir="16200000">
              <a:srgbClr val="071A22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91840" y="1051560"/>
            <a:ext cx="2697480" cy="822960"/>
          </a:xfrm>
          <a:prstGeom prst="roundRect">
            <a:avLst>
              <a:gd name="adj" fmla="val 13333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91840" y="1600200"/>
            <a:ext cx="2697480" cy="2743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117043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PRIVACY-NATIVE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74720" y="14173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Realities G2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474720" y="20574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camera by design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520440" y="2560320"/>
            <a:ext cx="91440" cy="914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49040" y="2468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discrete text HUD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520440" y="2944368"/>
            <a:ext cx="91440" cy="914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49040" y="28529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mics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520440" y="3328416"/>
            <a:ext cx="91440" cy="914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49040" y="323697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onboard speakers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520440" y="3712464"/>
            <a:ext cx="91440" cy="914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49040" y="362102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 via phone / BC earbuds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126480" y="1051560"/>
            <a:ext cx="2697480" cy="33832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1E7E7"/>
            </a:solidFill>
            <a:prstDash val="solid"/>
          </a:ln>
          <a:effectLst>
            <a:outerShdw sx="100000" sy="100000" kx="0" ky="0" algn="bl" rotWithShape="0" blurRad="127000" dist="38100" dir="16200000">
              <a:srgbClr val="071A22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26480" y="1051560"/>
            <a:ext cx="2697480" cy="822960"/>
          </a:xfrm>
          <a:prstGeom prst="roundRect">
            <a:avLst>
              <a:gd name="adj" fmla="val 13333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26480" y="1600200"/>
            <a:ext cx="269748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09360" y="117043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ONE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309360" y="14173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only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6309360" y="20574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sim path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355080" y="2560320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83680" y="2468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 + headphones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355080" y="2944368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83680" y="28529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On-screen mock HUD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355080" y="3328416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83680" y="323697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label metrics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355080" y="3712464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83680" y="362102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hardware delay risk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411480" y="482803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Companion  ·  VCU Anesthesiology  ·  Sim-first  ·  Camera-free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321040" y="4828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BFC"/>
          </a:solidFill>
          <a:ln w="12700">
            <a:solidFill>
              <a:srgbClr val="F8FB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PILOT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7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build in the sim lab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26974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1E7E7"/>
            </a:solidFill>
            <a:prstDash val="solid"/>
          </a:ln>
          <a:effectLst>
            <a:outerShdw sx="100000" sy="100000" kx="0" ky="0" algn="bl" rotWithShape="0" blurRad="127000" dist="38100" dir="16200000">
              <a:srgbClr val="071A22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12527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1554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7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Sim-only platform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8368" y="19659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audio → phone edge brain → HUD + tone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91840" y="1051560"/>
            <a:ext cx="26974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1E7E7"/>
            </a:solidFill>
            <a:prstDash val="solid"/>
          </a:ln>
          <a:effectLst>
            <a:outerShdw sx="100000" sy="100000" kx="0" ky="0" algn="bl" rotWithShape="0" blurRad="127000" dist="38100" dir="16200000">
              <a:srgbClr val="071A22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93008" y="12527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93008" y="1554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7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protocol pack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08" y="19659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VCU / Tx ICU cards — not cloud-only “AI doctor”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1051560"/>
            <a:ext cx="26974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1E7E7"/>
            </a:solidFill>
            <a:prstDash val="solid"/>
          </a:ln>
          <a:effectLst>
            <a:outerShdw sx="100000" sy="100000" kx="0" ky="0" algn="bl" rotWithShape="0" blurRad="127000" dist="38100" dir="16200000">
              <a:srgbClr val="071A22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27648" y="12527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27648" y="1554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7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rules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27648" y="19659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language · no orders · camera hard-off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743200"/>
            <a:ext cx="26974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1E7E7"/>
            </a:solidFill>
            <a:prstDash val="solid"/>
          </a:ln>
          <a:effectLst>
            <a:outerShdw sx="100000" sy="100000" kx="0" ky="0" algn="bl" rotWithShape="0" blurRad="127000" dist="38100" dir="16200000">
              <a:srgbClr val="071A22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8368" y="29443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8368" y="3246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7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loop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8368" y="3657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each scenario: Helpful? Accurate? + short note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91840" y="2743200"/>
            <a:ext cx="26974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1E7E7"/>
            </a:solidFill>
            <a:prstDash val="solid"/>
          </a:ln>
          <a:effectLst>
            <a:outerShdw sx="100000" sy="100000" kx="0" ky="0" algn="bl" rotWithShape="0" blurRad="127000" dist="38100" dir="16200000">
              <a:srgbClr val="071A22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493008" y="29443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93008" y="3246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7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493008" y="3657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· %helpful · %accurate · on vs off preference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126480" y="2743200"/>
            <a:ext cx="26974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1E7E7"/>
            </a:solidFill>
            <a:prstDash val="solid"/>
          </a:ln>
          <a:effectLst>
            <a:outerShdw sx="100000" sy="100000" kx="0" ky="0" algn="bl" rotWithShape="0" blurRad="127000" dist="38100" dir="16200000">
              <a:srgbClr val="071A22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327648" y="29443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27648" y="3246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7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Year-1 exit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327648" y="3657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ON on ≥1 scenario class · no harmful action increase · abstract draft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11480" y="482803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Companion  ·  VCU Anesthesiology  ·  Sim-first  ·  Camera-free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321040" y="4828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BFC"/>
          </a:solidFill>
          <a:ln w="12700">
            <a:solidFill>
              <a:srgbClr val="F8FB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ASK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7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VCU Anesthesiology simulation pilot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697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1E7E7"/>
            </a:solidFill>
            <a:prstDash val="solid"/>
          </a:ln>
          <a:effectLst>
            <a:outerShdw sx="100000" sy="100000" kx="0" ky="0" algn="bl" rotWithShape="0" blurRad="127000" dist="38100" dir="16200000">
              <a:srgbClr val="071A22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14300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/ CLINICAL LEAD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4173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7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Sergio Navarrete, MD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18745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 ICU design · protocols · scholarly output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1005840"/>
            <a:ext cx="2697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1E7E7"/>
            </a:solidFill>
            <a:prstDash val="solid"/>
          </a:ln>
          <a:effectLst>
            <a:outerShdw sx="100000" sy="100000" kx="0" ky="0" algn="bl" rotWithShape="0" blurRad="127000" dist="38100" dir="16200000">
              <a:srgbClr val="071A22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74720" y="114300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LAB / EDUCATION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74720" y="14173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7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Mike Kazior, MD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74720" y="18745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fit · learner access · equipment home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005840"/>
            <a:ext cx="2697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1E7E7"/>
            </a:solidFill>
            <a:prstDash val="solid"/>
          </a:ln>
          <a:effectLst>
            <a:outerShdw sx="100000" sy="100000" kx="0" ky="0" algn="bl" rotWithShape="0" blurRad="127000" dist="38100" dir="16200000">
              <a:srgbClr val="071A22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09360" y="114300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 COLLABORATOR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09360" y="14173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7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Marjo Beltoja, MD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09360" y="18745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ops · learner liaison · labeling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651760"/>
            <a:ext cx="8229600" cy="1828800"/>
          </a:xfrm>
          <a:prstGeom prst="roundRect">
            <a:avLst>
              <a:gd name="adj" fmla="val 6000"/>
            </a:avLst>
          </a:prstGeom>
          <a:solidFill>
            <a:srgbClr val="0B2834"/>
          </a:solidFill>
          <a:ln w="12700">
            <a:solidFill>
              <a:srgbClr val="0B283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28346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DEPARTMENTAL ASK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31546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3429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$12,500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31520" y="3886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Halo ×1–2 + app + scenarios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74720" y="31546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viable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74720" y="3429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$7,500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3474720" y="3886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Halo ×1 + narrower software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17920" y="31546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Phone-only start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17920" y="3429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$4–5k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6217920" y="3886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hardware must wait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11480" y="482803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Companion  ·  VCU Anesthesiology  ·  Sim-first  ·  Camera-free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321040" y="4828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A22"/>
          </a:solidFill>
          <a:ln w="12700">
            <a:solidFill>
              <a:srgbClr val="071A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0B2834"/>
          </a:solidFill>
          <a:ln w="12700">
            <a:solidFill>
              <a:srgbClr val="0B283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1148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12 MONTHS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concept to abstract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640080" cy="502920"/>
          </a:xfrm>
          <a:prstGeom prst="roundRect">
            <a:avLst>
              <a:gd name="adj" fmla="val 14545"/>
            </a:avLst>
          </a:prstGeom>
          <a:solidFill>
            <a:srgbClr val="0F3442"/>
          </a:solidFill>
          <a:ln w="12700">
            <a:solidFill>
              <a:srgbClr val="0F34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8132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14630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Halo + cam-off profile · phone app v0 · 2 scenarios · IRB/education path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640080" cy="502920"/>
          </a:xfrm>
          <a:prstGeom prst="roundRect">
            <a:avLst>
              <a:gd name="adj" fmla="val 14545"/>
            </a:avLst>
          </a:prstGeom>
          <a:solidFill>
            <a:srgbClr val="0F3442"/>
          </a:solidFill>
          <a:ln w="12700">
            <a:solidFill>
              <a:srgbClr val="0F34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6712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21488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learner sessions · label data · cue quality iteration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640080" cy="502920"/>
          </a:xfrm>
          <a:prstGeom prst="roundRect">
            <a:avLst>
              <a:gd name="adj" fmla="val 14545"/>
            </a:avLst>
          </a:prstGeom>
          <a:solidFill>
            <a:srgbClr val="0F3442"/>
          </a:solidFill>
          <a:ln w="12700">
            <a:solidFill>
              <a:srgbClr val="0F34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85292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2834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scenarios · on vs off comparison in sim lab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429000"/>
            <a:ext cx="640080" cy="502920"/>
          </a:xfrm>
          <a:prstGeom prst="roundRect">
            <a:avLst>
              <a:gd name="adj" fmla="val 14545"/>
            </a:avLst>
          </a:prstGeom>
          <a:solidFill>
            <a:srgbClr val="0F3442"/>
          </a:solidFill>
          <a:ln w="12700">
            <a:solidFill>
              <a:srgbClr val="0F34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53872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35204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report · abstract · society grants · equipment with Kazior lab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766560" y="9601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GETS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66560" y="1371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sim prototype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766560" y="18105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scenario cards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766560" y="224942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report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66560" y="268833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draft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66560" y="31272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/ no-go for grants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766560" y="35661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Gear stays in sim program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· camera-free · education first  ·  github.com/senrealinvestment/cognitive-companion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Cognitive Companion</dc:title>
  <dc:subject>Camera-free smart-glasses cognitive companion for critical care simulation</dc:subject>
  <dc:creator>Sergio Navarrete, MD · VCU Anesthesiology</dc:creator>
  <cp:lastModifiedBy>Sergio Navarrete, MD · VCU Anesthesiology</cp:lastModifiedBy>
  <cp:revision>1</cp:revision>
  <dcterms:created xsi:type="dcterms:W3CDTF">2026-09-25T13:46:53Z</dcterms:created>
  <dcterms:modified xsi:type="dcterms:W3CDTF">2026-09-25T13:46:53Z</dcterms:modified>
</cp:coreProperties>
</file>